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ED314-7AB6-43A5-863E-2D780BF4782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C4F92-F27B-4B1B-91C9-D4B02175E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9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C4F92-F27B-4B1B-91C9-D4B02175E37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63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ert5ukphfnb3m7s5yeydjn.streamlit.app/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0" y="0"/>
            <a:ext cx="5486400" cy="6858000"/>
          </a:xfrm>
          <a:prstGeom prst="round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201168" cy="1005840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5943600" cy="4572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Global Development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A04EDB"/>
                </a:solidFill>
                <a:latin typeface="Calibri"/>
              </a:rPr>
              <a:t>Analysis &amp;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7C2A"/>
                </a:solidFill>
                <a:latin typeface="Calibri"/>
              </a:rPr>
              <a:t>Machine Learning Project  |  Unsupervised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4572000" cy="36576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7315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CCCCDD"/>
                </a:solidFill>
                <a:latin typeface="Calibri"/>
              </a:rPr>
              <a:t>Presented by:  </a:t>
            </a:r>
            <a:r>
              <a:rPr lang="en-US" sz="1500" dirty="0">
                <a:solidFill>
                  <a:srgbClr val="CCCCDD"/>
                </a:solidFill>
                <a:latin typeface="Calibri"/>
              </a:rPr>
              <a:t>Mihir Nigam</a:t>
            </a:r>
            <a:endParaRPr sz="1500" b="0" i="0" dirty="0">
              <a:solidFill>
                <a:srgbClr val="CCCCDD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474720" cy="59436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08483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K-Means Clustering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834640"/>
            <a:ext cx="3474720" cy="594360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90779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PCA Dimensionality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657600"/>
            <a:ext cx="347472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730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Streamlit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Business Objective &amp; Dataset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2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5577840" cy="219456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557784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0881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Business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453896"/>
            <a:ext cx="535838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Build an unsupervised machine learning pipeline to cluster countries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based on global development metrics, enabling data-driven comparisons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of economic and social progress across nations worldwide.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5760720" cy="219456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051560"/>
            <a:ext cx="576072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08813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Dataset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1453896"/>
            <a:ext cx="554126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Source: World_development_measurement.csv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Size: 2,704 rows × 25 columns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Coverage: Country-level economic &amp; demographic indicators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Time span: Multiple years of global measurement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29000"/>
            <a:ext cx="11612880" cy="192024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1161288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46557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Key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831336"/>
            <a:ext cx="1139342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Birth Rate, Business Tax Rate, CO2 Emissions, Days to Start Business, Ease of Business,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Energy Usage, GDP, Health Exp % GDP, Health Exp/Capita, Hours to do Tax, Infant Mortality,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Internet Usage, Lending Interest, Life Expectancy (M/F), Mobile Usage, Population (0–14,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15–64, 65+, Total, Urban), Tourism Inbound, Tourism Outbound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C2A"/>
                </a:solidFill>
                <a:latin typeface="Calibri"/>
              </a:rPr>
              <a:t>Acceptance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806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D"/>
                </a:solidFill>
                <a:latin typeface="Calibri"/>
              </a:rPr>
              <a:t>Comparative analysis of multiple clustering models  •  Deployment via Streamlit / Flask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Tools &amp; Libraries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3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051560"/>
            <a:ext cx="2148840" cy="73152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1216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4EDB"/>
                </a:solidFill>
                <a:latin typeface="Calibri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70992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051560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51760" y="1051560"/>
            <a:ext cx="2148840" cy="7315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61488" y="1216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C2A"/>
                </a:solidFill>
                <a:latin typeface="Calibri"/>
              </a:rP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170992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Data manipulation &amp;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051560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83480" y="1051560"/>
            <a:ext cx="214884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93208" y="1216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NumPy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170992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Numerical computing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051560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1051560"/>
            <a:ext cx="2148840" cy="73152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4928" y="1216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4EDB"/>
                </a:solidFill>
                <a:latin typeface="Calibri"/>
              </a:rPr>
              <a:t>Scikit-Learn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170992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ML algorithms &amp; preprocessing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051560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46920" y="1051560"/>
            <a:ext cx="2148840" cy="7315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56648" y="1216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C2A"/>
                </a:solidFill>
                <a:latin typeface="Calibri"/>
              </a:rPr>
              <a:t>Matplotlib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70992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Static data visualization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63240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063240"/>
            <a:ext cx="214884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Seaborn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216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Statistical visualizations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063240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651760" y="3063240"/>
            <a:ext cx="2148840" cy="73152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61488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4EDB"/>
                </a:solidFill>
                <a:latin typeface="Calibri"/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1488" y="37216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Web app deployment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5245" y="3089619"/>
            <a:ext cx="2148840" cy="1737360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985236" y="3063240"/>
            <a:ext cx="214884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03756" y="32805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Git / VSCode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12548" y="37216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  <a:latin typeface="Calibri"/>
              </a:rPr>
              <a:t>Version control &amp; 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Motivation &amp; Expected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4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7132320" cy="256032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713232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088136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Problem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453896"/>
            <a:ext cx="6912864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Nations differ vastly in economic strength, healthcare infrastructure,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technology penetration, and demographic composition. This project applies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unsupervised machine learning to detect hidden patterns in these indicators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and group countries into meaningful development-level clusters — providing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actionable insights for policymakers, researchers, and global organisations.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051560"/>
            <a:ext cx="4114800" cy="530352"/>
          </a:xfrm>
          <a:prstGeom prst="rect">
            <a:avLst/>
          </a:prstGeom>
          <a:solidFill>
            <a:srgbClr val="251E5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26679" y="1051560"/>
            <a:ext cx="164592" cy="53035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1" y="11430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  <a:latin typeface="Calibri"/>
              </a:rPr>
              <a:t>🌐 Developed Nations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1709928"/>
            <a:ext cx="4114800" cy="530352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26679" y="1709928"/>
            <a:ext cx="164592" cy="5303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82711" y="1801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📈 Emerging Economies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368296"/>
            <a:ext cx="4114800" cy="530352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2368296"/>
            <a:ext cx="164592" cy="53035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82711" y="24597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C2A"/>
                </a:solidFill>
                <a:latin typeface="Calibri"/>
              </a:rPr>
              <a:t>🔧 Developing Nations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026664"/>
            <a:ext cx="4114800" cy="530352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26679" y="3026664"/>
            <a:ext cx="164592" cy="530352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2711" y="311810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4EDB"/>
                </a:solidFill>
                <a:latin typeface="Calibri"/>
              </a:rPr>
              <a:t>⚠️ Underdeveloped Nations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11612880" cy="155448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840480"/>
            <a:ext cx="1161288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87705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Research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242816"/>
            <a:ext cx="1139342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• Which socioeconomic features most strongly differentiate development levels?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• How many natural clusters exist in global development data?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• Which clustering algorithm best captures the underlying data structure?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Dataset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Features &amp;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5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2651760" cy="100584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0972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4EDB"/>
                </a:solidFill>
                <a:latin typeface="Calibri"/>
              </a:rPr>
              <a:t>2,704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Total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651760" cy="1005840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0972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7C2A"/>
                </a:solidFill>
                <a:latin typeface="Calibri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Original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51560"/>
            <a:ext cx="2651760" cy="1005840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Target Clusters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051560"/>
            <a:ext cx="2651760" cy="1005840"/>
          </a:xfrm>
          <a:prstGeom prst="rect">
            <a:avLst/>
          </a:prstGeom>
          <a:solidFill>
            <a:srgbClr val="251E5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0972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9D353"/>
                </a:solidFill>
                <a:latin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Features After Cleaning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40280"/>
            <a:ext cx="11612880" cy="201168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2240280"/>
            <a:ext cx="1161288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27685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Feature List (25 Variables)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642616"/>
            <a:ext cx="1139342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'Birth Rate', 'Business Tax Rate', 'CO2 Emissions', 'Country', 'Days to Start Business',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'Ease of Business', 'Energy Usage', 'GDP', 'Health Exp % GDP', 'Health Exp/Capita',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'Hours to do Tax', 'Infant Mortality Rate', 'Internet Usage', 'Lending Interest',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'Life Expectancy Female', 'Life Expectancy Male', 'Mobile Phone Usage', 'Number of Records',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'Population 0-14', 'Population 15-64', 'Population 65+', 'Population Total', 'Population Urban',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'Tourism Inbound', 'Tourism Outbound'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34840"/>
            <a:ext cx="2743200" cy="47548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480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0E2A"/>
                </a:solidFill>
                <a:latin typeface="Calibri"/>
              </a:rPr>
              <a:t>1. Developed Countries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434840"/>
            <a:ext cx="2743200" cy="47548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0" y="4480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0E2A"/>
                </a:solidFill>
                <a:latin typeface="Calibri"/>
              </a:rPr>
              <a:t>2. Developing Countries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434840"/>
            <a:ext cx="274320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4480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0E2A"/>
                </a:solidFill>
                <a:latin typeface="Calibri"/>
              </a:rPr>
              <a:t>3. Emerging Economies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4434840"/>
            <a:ext cx="2743200" cy="47548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4480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0E2A"/>
                </a:solidFill>
                <a:latin typeface="Calibri"/>
              </a:rPr>
              <a:t>4. Underdeveloped Countries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Exploratory Data Analysis (EDA)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Data Cleaning &amp; Null Value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6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5760720" cy="224028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760720" cy="38404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🔍 Data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5544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Identified data types across all 25 columns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Detected and flagged mixed-format values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Removed special characters (%, $) to enable numeric parsing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760720" cy="2240280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760720" cy="38404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🗑️ Missing Value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544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Dropped columns with &gt;35% missing values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Imputed remaining nulls using column mean or median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Validated imputation did not skew distributions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760720" cy="2240280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576072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575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📉 Zero-Variance Removal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776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Identified columns with no variability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Removed zero-variance features as they carry no information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Verified remaining features had meaningful spread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20440"/>
            <a:ext cx="5760720" cy="2240280"/>
          </a:xfrm>
          <a:prstGeom prst="rect">
            <a:avLst/>
          </a:prstGeom>
          <a:solidFill>
            <a:srgbClr val="251E5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520440"/>
            <a:ext cx="5760720" cy="38404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575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🔄 Duplicate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9776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Scanned dataset for duplicate rows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Removed confirmed duplicates to prevent data leakage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▸  Final clean dataset retained for EDA &amp; modeling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Exploratory Data Analysis (EDA)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Outlier Detection &amp; Correlation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7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657600" cy="219456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365760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133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Outlier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499616"/>
            <a:ext cx="343814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Identified extreme values using box plots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Extreme outliers bias model performance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and lead to skewed cluster assignments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Flagged features with heavy right-skew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3657600" cy="219456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1097280"/>
            <a:ext cx="365760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1133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Outlier Treatment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499616"/>
            <a:ext cx="343814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Applied IQR (Interquartile Range) capping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Values below Q1–1.5×IQR capped to lower bound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Values above Q3+1.5×IQR capped to upper bound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Preserved data volume while reducing extremes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097280"/>
            <a:ext cx="3566160" cy="219456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1097280"/>
            <a:ext cx="356616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11338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Correlation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499616"/>
            <a:ext cx="33467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Computed Pearson correlation matrix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Identified strong positive &amp; negative pairs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Diagonal ignored (self-correlation = 1.0)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High collinearity guided PCA feature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474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C2A"/>
                </a:solidFill>
                <a:latin typeface="Calibri"/>
              </a:rPr>
              <a:t>Key Correlation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13632"/>
            <a:ext cx="2788920" cy="475488"/>
          </a:xfrm>
          <a:prstGeom prst="rect">
            <a:avLst/>
          </a:prstGeom>
          <a:solidFill>
            <a:srgbClr val="251E55"/>
          </a:solidFill>
          <a:ln w="1270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968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Birth Rate ↔ Infant Mortality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9684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7C2A"/>
                </a:solidFill>
                <a:latin typeface="Calibri"/>
              </a:rPr>
              <a:t>+0.87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3913632"/>
            <a:ext cx="2788920" cy="475488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0128" y="3968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Birth Rate ↔ Life Expectancy 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39684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04EDB"/>
                </a:solidFill>
                <a:latin typeface="Calibri"/>
              </a:rPr>
              <a:t>–0.87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913632"/>
            <a:ext cx="2788920" cy="475488"/>
          </a:xfrm>
          <a:prstGeom prst="rect">
            <a:avLst/>
          </a:prstGeom>
          <a:solidFill>
            <a:srgbClr val="251E55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54496" y="3968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GDP ↔ Tourism Outbound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39684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9D353"/>
                </a:solidFill>
                <a:latin typeface="Calibri"/>
              </a:rPr>
              <a:t>+0.93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07424" y="3913632"/>
            <a:ext cx="2788920" cy="475488"/>
          </a:xfrm>
          <a:prstGeom prst="rect">
            <a:avLst/>
          </a:prstGeom>
          <a:solidFill>
            <a:srgbClr val="251E55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8864" y="3968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Internet Usage ↔ Health/Capita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56264" y="39684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FF"/>
                </a:solidFill>
                <a:latin typeface="Calibri"/>
              </a:rPr>
              <a:t>+0.77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Scaling, Encoding &amp; Transformation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8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256032" cy="82296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1097280"/>
            <a:ext cx="11338560" cy="82296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1704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4EDB"/>
                </a:solidFill>
                <a:latin typeface="Calibri"/>
              </a:rPr>
              <a:t>Min-Max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88720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Rescales all feature values to the fixed range [0, 1] while preserving relative relationships between data points.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21408"/>
            <a:ext cx="256032" cy="822960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" y="2121408"/>
            <a:ext cx="11338560" cy="82296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194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C2A"/>
                </a:solidFill>
                <a:latin typeface="Calibri"/>
              </a:rPr>
              <a:t>Z-Score Standardization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12848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Transforms features to zero mean and unit variance using (x − μ) / σ. Robust to outlier influence.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45536"/>
            <a:ext cx="256032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" y="3145536"/>
            <a:ext cx="11338560" cy="82296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Log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36976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Applies log(x+1) to reduce right-skewness in heavily skewed economic distributions like GDP and CO2.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69664"/>
            <a:ext cx="256032" cy="8229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0352" y="4169664"/>
            <a:ext cx="11338560" cy="82296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  <a:latin typeface="Calibri"/>
              </a:rPr>
              <a:t>One-Hot Encoding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261104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Converts nominal categorical variables into binary indicator columns to avoid ordinal assumptions.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193792"/>
            <a:ext cx="256032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0352" y="5193792"/>
            <a:ext cx="11338560" cy="82296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52669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Calibri"/>
              </a:rPr>
              <a:t>Label Encoding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285232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Maps each categorical class to an integer. Used for the Country feature in this project pipeline.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309360"/>
            <a:ext cx="11612880" cy="4572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3550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C2A"/>
                </a:solidFill>
                <a:latin typeface="Calibri"/>
              </a:rPr>
              <a:t>✅  StandardScaler was applied in this project — values normalized to range [–3, +3]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Correlation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Pairwise Correlation of 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051560"/>
            <a:ext cx="1645920" cy="38404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" y="10789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47088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Birth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16936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CO2 Emiss.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0208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86784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Energy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0056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6632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GDP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Health/Cap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9752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96328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Infant Mort.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6176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Internet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9448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36024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Life Exp 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69296" y="1051560"/>
            <a:ext cx="1069848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5872" y="107899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1435608"/>
            <a:ext cx="1645920" cy="493776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2024" y="1527048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Birth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10512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37944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07792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0208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77640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0056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47488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9904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17336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-0.59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9752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87184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0.87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57032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99448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0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4EDB"/>
                </a:solidFill>
                <a:latin typeface="Calibri"/>
              </a:rPr>
              <a:t>-0.87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69296" y="143560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96728" y="152704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-0.54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947672"/>
            <a:ext cx="1645920" cy="493776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92024" y="203911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CO2 Emissions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10512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37944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-0.35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07792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50208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77640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0.83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0056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47488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0.73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9904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17336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0.32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59752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187184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57032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0.19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99448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26880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0.31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69296" y="194767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396728" y="203911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2459736"/>
            <a:ext cx="1645920" cy="493776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92024" y="2551176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Energy Usage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10512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837944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-0.28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80360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907792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0.83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0208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977640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0056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47488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0.80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9904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17336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0.34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59752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187184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-0.22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257032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0.28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99448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326880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0.26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369296" y="245973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396728" y="255117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0.20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971800"/>
            <a:ext cx="1645920" cy="493776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92024" y="306324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GDP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810512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837944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-0.41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80360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907792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0.73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50208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977640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0.80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0056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047488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89904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117336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0.56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59752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187184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-0.39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29600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57032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0.49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299448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326880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0.42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369296" y="2971800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0396728" y="3063240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0.41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3483864"/>
            <a:ext cx="1645920" cy="493776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92024" y="3575304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Health/Capita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810512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837944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-0.59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907792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0.32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50208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977640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0.34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0056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047488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0.56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89904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117336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159752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187184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-0.61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29600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257032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0.77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299448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326880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0.59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369296" y="3483864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396728" y="3575304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0.58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3995928"/>
            <a:ext cx="1645920" cy="493776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92024" y="4087368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Infant Mort.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810512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837944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0.87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880360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907792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-0.30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950208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977640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-0.22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0056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047488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-0.39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089904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117336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-0.61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159752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187184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229600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257032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-0.62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299448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326880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4EDB"/>
                </a:solidFill>
                <a:latin typeface="Calibri"/>
              </a:rPr>
              <a:t>-0.92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369296" y="3995928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396728" y="4087368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-0.57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4507992"/>
            <a:ext cx="1645920" cy="493776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92024" y="459943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Internet Usage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10512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837944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-0.62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880360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2907792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0.19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950208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977640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0.28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020056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047488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0.49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089904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17336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0.77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159752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7187184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C2A"/>
                </a:solidFill>
                <a:latin typeface="Calibri"/>
              </a:rPr>
              <a:t>-0.62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229600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8257032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299448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9326880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0.64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369296" y="4507992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396728" y="45994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0.74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5020056"/>
            <a:ext cx="1645920" cy="493776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192024" y="5111496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Life Exp F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810512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837944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4EDB"/>
                </a:solidFill>
                <a:latin typeface="Calibri"/>
              </a:rPr>
              <a:t>-0.87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880360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907792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0.31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950208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977640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D"/>
                </a:solidFill>
                <a:latin typeface="Calibri"/>
              </a:rPr>
              <a:t>0.26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20056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5047488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0.42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089904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117336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0.59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159752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187184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4EDB"/>
                </a:solidFill>
                <a:latin typeface="Calibri"/>
              </a:rPr>
              <a:t>-0.92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29600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8257032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0.64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299448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9326880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alibri"/>
              </a:rPr>
              <a:t>1.00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369296" y="5020056"/>
            <a:ext cx="1069848" cy="493776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10396728" y="5111496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0.55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7432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  <a:latin typeface="Calibri"/>
              </a:rPr>
              <a:t>Color key: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Feature Distribution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Histograms of All 20 Numeric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10 / 22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212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2910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C2A"/>
                </a:solidFill>
                <a:latin typeface="Calibri"/>
              </a:rPr>
              <a:t>Most features exhibit right-skewed distributions — especially GDP, CO2, Population Total &amp; Tourism metrics. Log transformation was applied to reduce skewness before modeling.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Feature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Standardization Techniques Applied to the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11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05156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  <a:latin typeface="Calibri"/>
              </a:rPr>
              <a:t>Data preprocessing is a critical step in any ML pipeline. Raw features often come with different units, scales, and distributions — this causes distance-based algorithms like K-Means to be dominated by high-magnitude features. Feature scaling ensures each variable contributes equally to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48840"/>
            <a:ext cx="5577840" cy="182880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148840"/>
            <a:ext cx="557784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854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StandardScaler  (Used in Project)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551176"/>
            <a:ext cx="53583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Centers data to μ = 0, σ = 1 via (x − μ) / σ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Output range: approximately –3 to +3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Best for normally distributed features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Robust for algorithms sensitive to magnitude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148840"/>
            <a:ext cx="5760720" cy="182880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2148840"/>
            <a:ext cx="576072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18541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MinMaxScaler  (Alternative)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551176"/>
            <a:ext cx="55412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Rescales to fixed range [0, 1] via (x − min)/(max − min)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Sensitive to outliers — extreme values compress others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Useful when a bounded range is required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Often combined with outlier capping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60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4EDB"/>
                </a:solidFill>
                <a:latin typeface="Calibri"/>
              </a:rPr>
              <a:t>StandardScaler Output Range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17720"/>
            <a:ext cx="11430000" cy="20116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89320" y="4572000"/>
            <a:ext cx="54864" cy="2926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8188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7C2A"/>
                </a:solidFill>
                <a:latin typeface="Calibri"/>
              </a:rPr>
              <a:t>–3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8188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7C2A"/>
                </a:solidFill>
                <a:latin typeface="Calibri"/>
              </a:rPr>
              <a:t>0 (mean)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48188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7C2A"/>
                </a:solidFill>
                <a:latin typeface="Calibri"/>
              </a:rPr>
              <a:t>+3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17720"/>
            <a:ext cx="457200" cy="201168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4617720"/>
            <a:ext cx="457200" cy="201168"/>
          </a:xfrm>
          <a:prstGeom prst="rect">
            <a:avLst/>
          </a:prstGeom>
          <a:solidFill>
            <a:srgbClr val="171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88720" y="4617720"/>
            <a:ext cx="457200" cy="201168"/>
          </a:xfrm>
          <a:prstGeom prst="rect">
            <a:avLst/>
          </a:prstGeom>
          <a:solidFill>
            <a:srgbClr val="1D1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645920" y="4617720"/>
            <a:ext cx="457200" cy="201168"/>
          </a:xfrm>
          <a:prstGeom prst="rect">
            <a:avLst/>
          </a:prstGeom>
          <a:solidFill>
            <a:srgbClr val="2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03120" y="4617720"/>
            <a:ext cx="457200" cy="201168"/>
          </a:xfrm>
          <a:prstGeom prst="rect">
            <a:avLst/>
          </a:prstGeom>
          <a:solidFill>
            <a:srgbClr val="291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4617720"/>
            <a:ext cx="457200" cy="201168"/>
          </a:xfrm>
          <a:prstGeom prst="rect">
            <a:avLst/>
          </a:prstGeom>
          <a:solidFill>
            <a:srgbClr val="2F1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017520" y="4617720"/>
            <a:ext cx="457200" cy="201168"/>
          </a:xfrm>
          <a:prstGeom prst="rect">
            <a:avLst/>
          </a:prstGeom>
          <a:solidFill>
            <a:srgbClr val="351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74720" y="4617720"/>
            <a:ext cx="457200" cy="201168"/>
          </a:xfrm>
          <a:prstGeom prst="rect">
            <a:avLst/>
          </a:prstGeom>
          <a:solidFill>
            <a:srgbClr val="3B2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31920" y="4617720"/>
            <a:ext cx="457200" cy="201168"/>
          </a:xfrm>
          <a:prstGeom prst="rect">
            <a:avLst/>
          </a:prstGeom>
          <a:solidFill>
            <a:srgbClr val="41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0" y="4617720"/>
            <a:ext cx="457200" cy="201168"/>
          </a:xfrm>
          <a:prstGeom prst="rect">
            <a:avLst/>
          </a:prstGeom>
          <a:solidFill>
            <a:srgbClr val="472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46320" y="4617720"/>
            <a:ext cx="457200" cy="201168"/>
          </a:xfrm>
          <a:prstGeom prst="rect">
            <a:avLst/>
          </a:prstGeom>
          <a:solidFill>
            <a:srgbClr val="4D2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03520" y="4617720"/>
            <a:ext cx="457200" cy="201168"/>
          </a:xfrm>
          <a:prstGeom prst="rect">
            <a:avLst/>
          </a:prstGeom>
          <a:solidFill>
            <a:srgbClr val="532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60720" y="4617720"/>
            <a:ext cx="457200" cy="201168"/>
          </a:xfrm>
          <a:prstGeom prst="rect">
            <a:avLst/>
          </a:prstGeom>
          <a:solidFill>
            <a:srgbClr val="592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4617720"/>
            <a:ext cx="457200" cy="201168"/>
          </a:xfrm>
          <a:prstGeom prst="rect">
            <a:avLst/>
          </a:prstGeom>
          <a:solidFill>
            <a:srgbClr val="5E3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675120" y="4617720"/>
            <a:ext cx="457200" cy="201168"/>
          </a:xfrm>
          <a:prstGeom prst="rect">
            <a:avLst/>
          </a:prstGeom>
          <a:solidFill>
            <a:srgbClr val="643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132320" y="4617720"/>
            <a:ext cx="457200" cy="201168"/>
          </a:xfrm>
          <a:prstGeom prst="rect">
            <a:avLst/>
          </a:prstGeom>
          <a:solidFill>
            <a:srgbClr val="6A3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589520" y="4617720"/>
            <a:ext cx="457200" cy="201168"/>
          </a:xfrm>
          <a:prstGeom prst="rect">
            <a:avLst/>
          </a:prstGeom>
          <a:solidFill>
            <a:srgbClr val="70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46720" y="4617720"/>
            <a:ext cx="457200" cy="201168"/>
          </a:xfrm>
          <a:prstGeom prst="rect">
            <a:avLst/>
          </a:prstGeom>
          <a:solidFill>
            <a:srgbClr val="763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03920" y="4617720"/>
            <a:ext cx="457200" cy="201168"/>
          </a:xfrm>
          <a:prstGeom prst="rect">
            <a:avLst/>
          </a:prstGeom>
          <a:solidFill>
            <a:srgbClr val="7C3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4617720"/>
            <a:ext cx="457200" cy="201168"/>
          </a:xfrm>
          <a:prstGeom prst="rect">
            <a:avLst/>
          </a:prstGeom>
          <a:solidFill>
            <a:srgbClr val="82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18320" y="4617720"/>
            <a:ext cx="457200" cy="201168"/>
          </a:xfrm>
          <a:prstGeom prst="rect">
            <a:avLst/>
          </a:prstGeom>
          <a:solidFill>
            <a:srgbClr val="884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20" y="4617720"/>
            <a:ext cx="457200" cy="201168"/>
          </a:xfrm>
          <a:prstGeom prst="rect">
            <a:avLst/>
          </a:prstGeom>
          <a:solidFill>
            <a:srgbClr val="8E4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332720" y="4617720"/>
            <a:ext cx="457200" cy="201168"/>
          </a:xfrm>
          <a:prstGeom prst="rect">
            <a:avLst/>
          </a:prstGeom>
          <a:solidFill>
            <a:srgbClr val="944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789920" y="4617720"/>
            <a:ext cx="457200" cy="201168"/>
          </a:xfrm>
          <a:prstGeom prst="rect">
            <a:avLst/>
          </a:prstGeom>
          <a:solidFill>
            <a:srgbClr val="9A4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247120" y="4617720"/>
            <a:ext cx="457200" cy="20116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Scaled Data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First 5 Rows After StandardScaler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12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078992"/>
            <a:ext cx="1051560" cy="38404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52728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Birth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22576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CO2 Emiss.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4136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2424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Days/Bus.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4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62272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Energy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13832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2120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GDP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Hlth%GDP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53528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71816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Hlth/Cap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23376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41664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Inf.Mort.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93224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11512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Internet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63072" y="1078992"/>
            <a:ext cx="1051560" cy="38404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81360" y="1097280"/>
            <a:ext cx="1033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440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52728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4288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22576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1.66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74136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92424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3984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62272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0.59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13832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32120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01968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-1.27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53528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71816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-0.75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23376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41664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0.09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93224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11512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-0.91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3072" y="1463040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881360" y="1591056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-0.53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82880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440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52728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C2A"/>
                </a:solidFill>
                <a:latin typeface="Calibri"/>
              </a:rPr>
              <a:t>2.47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04288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322576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-0.49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74136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92424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43984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462272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-0.73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13832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32120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-0.62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01968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-1.31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53528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671816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-0.83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23376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741664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C2A"/>
                </a:solidFill>
                <a:latin typeface="Calibri"/>
              </a:rPr>
              <a:t>2.70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3224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11512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-0.91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863072" y="2121408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881360" y="2249424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C2A"/>
                </a:solidFill>
                <a:latin typeface="Calibri"/>
              </a:rPr>
              <a:t>2.07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4592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82880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34440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252728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1.84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04288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322576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74136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392424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-0.15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43984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62272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-1.10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13832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532120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0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601968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-0.90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53528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71816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-0.85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23376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741664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C2A"/>
                </a:solidFill>
                <a:latin typeface="Calibri"/>
              </a:rPr>
              <a:t>2.08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93224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811512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-0.91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863072" y="2779776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881360" y="2907792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64592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82880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34440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252728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0.40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304288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322576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-0.63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74136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392424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-0.15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43984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462272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-1.11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13832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32120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-0.66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83680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01968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-0.72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53528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671816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-0.54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723376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741664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0.80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93224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11512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-0.91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863072" y="3438144"/>
            <a:ext cx="1051560" cy="62179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881360" y="356616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0.60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82880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234440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252728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C2A"/>
                </a:solidFill>
                <a:latin typeface="Calibri"/>
              </a:rPr>
              <a:t>2.11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304288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322576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-0.72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374136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392424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-0.15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443984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462272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-0.27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513832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532120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-0.70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0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601968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-0.54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53528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671816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-0.85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723376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741664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C2A"/>
                </a:solidFill>
                <a:latin typeface="Calibri"/>
              </a:rPr>
              <a:t>2.29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93224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811512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-0.91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863072" y="4096512"/>
            <a:ext cx="1051560" cy="62179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881360" y="4224528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-0.12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4320" y="51206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F7C2A"/>
                </a:solidFill>
                <a:latin typeface="Calibri"/>
              </a:rPr>
              <a:t>⚡  Highlighted values indicate |z| ≥ 1.0 (moderate) or |z| ≥ 2.0 (high deviation) from the mean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Principal Component Analysis (PCA)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Dimensionality Reduction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13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051560"/>
            <a:ext cx="11612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  <a:latin typeface="Calibri"/>
              </a:rPr>
              <a:t>PCA transforms correlated high-dimensional features into a smaller set of uncorrelated principal components, retaining the directions of maximum variance. This project used PCA to reduce 20 features to 6 components while preserving 95% of the total data variance.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3749039" cy="1627632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103120"/>
            <a:ext cx="475488" cy="1627632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265176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212848"/>
            <a:ext cx="30906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4EDB"/>
                </a:solidFill>
                <a:latin typeface="Calibri"/>
              </a:rPr>
              <a:t>Reduces Dimensionality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51760"/>
            <a:ext cx="30906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Transforms 20 correlated features into 6 independent principal components.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103120"/>
            <a:ext cx="3749039" cy="1627632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59" y="2103120"/>
            <a:ext cx="475488" cy="162763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5111" y="265176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7" y="2212848"/>
            <a:ext cx="30906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2A"/>
                </a:solidFill>
                <a:latin typeface="Calibri"/>
              </a:rPr>
              <a:t>Cuts Compute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7" y="2651760"/>
            <a:ext cx="30906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Fewer features means faster training, lower memory usage, and quicker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8" y="2103120"/>
            <a:ext cx="3749039" cy="1627632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598" y="2103120"/>
            <a:ext cx="475488" cy="16276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0" y="265176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6" y="2212848"/>
            <a:ext cx="30906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Removes 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6" y="2651760"/>
            <a:ext cx="30906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Focuses model on dominant variance patterns; discards low-information directions.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31920"/>
            <a:ext cx="5669280" cy="1627632"/>
          </a:xfrm>
          <a:prstGeom prst="rect">
            <a:avLst/>
          </a:prstGeom>
          <a:solidFill>
            <a:srgbClr val="251E5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931920"/>
            <a:ext cx="475488" cy="16276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448056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041648"/>
            <a:ext cx="5010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Enables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480560"/>
            <a:ext cx="5010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Projects data to 2D/3D for human-interpretable scatter plots of clusters.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931920"/>
            <a:ext cx="5669280" cy="1627632"/>
          </a:xfrm>
          <a:prstGeom prst="rect">
            <a:avLst/>
          </a:prstGeom>
          <a:solidFill>
            <a:srgbClr val="251E5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3931920"/>
            <a:ext cx="475488" cy="16276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91072" y="448056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041648"/>
            <a:ext cx="5010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Prevents Overfitting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4480560"/>
            <a:ext cx="5010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Eliminates redundant correlated features that could confuse model learning.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Feature Selection via PCA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Component Selection &amp; Variance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14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2194560" cy="96012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07899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04EDB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45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Original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051560"/>
            <a:ext cx="2194560" cy="960120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107899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7C2A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645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Dropped in Cleaning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051560"/>
            <a:ext cx="2194560" cy="960120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107899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  <a:latin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645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After Cleaning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051560"/>
            <a:ext cx="2194560" cy="960120"/>
          </a:xfrm>
          <a:prstGeom prst="rect">
            <a:avLst/>
          </a:prstGeom>
          <a:solidFill>
            <a:srgbClr val="251E5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107899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9D353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645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Selected (95% var.)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051560"/>
            <a:ext cx="2194560" cy="960120"/>
          </a:xfrm>
          <a:prstGeom prst="rect">
            <a:avLst/>
          </a:prstGeom>
          <a:solidFill>
            <a:srgbClr val="251E5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107899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700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645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Optimal Clusters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4EDB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4EDB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4EDB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4EDB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1488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C2A"/>
                </a:solidFill>
                <a:latin typeface="Calibri"/>
              </a:rPr>
              <a:t>Covariance Matrix Selection: Tied covariance, 4 clusters, Best Silhouette Score = 0.353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633472"/>
            <a:ext cx="1060704" cy="36576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43584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61872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22576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40864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01568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19856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98848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9552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77840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38544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56832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17536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35824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96528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14816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93808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54512" y="2633472"/>
            <a:ext cx="1060704" cy="36576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972800" y="26517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PC10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2880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43584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61872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0.84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22576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40864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1.33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01568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19856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7C2A"/>
                </a:solidFill>
                <a:latin typeface="Calibri"/>
              </a:rPr>
              <a:t>-2.15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98848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-0.19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59552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577840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38544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56832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17536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35824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0.94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96528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14816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-0.42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75520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893808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-0.77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954512" y="2999232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972800" y="309067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0.21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4592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82880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43584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61872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7C2A"/>
                </a:solidFill>
                <a:latin typeface="Calibri"/>
              </a:rPr>
              <a:t>5.98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22576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340864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1.68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01568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419856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1.13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0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98848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-0.45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9552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77840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-0.44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38544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656832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1.28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17536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35824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96528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814816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-0.92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75520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893808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0.65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954512" y="3566160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972800" y="365760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0.85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4592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82880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43584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261872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7C2A"/>
                </a:solidFill>
                <a:latin typeface="Calibri"/>
              </a:rPr>
              <a:t>4.66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322576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340864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0.48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401568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419856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0.72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80560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498848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-1.08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59552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577840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-0.03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638544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656832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-0.30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17536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35824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0.52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96528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814816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-0.66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875520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893808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0.65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954512" y="4133088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0972800" y="422452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0.14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64592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82880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43584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261872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7C2A"/>
                </a:solidFill>
                <a:latin typeface="Calibri"/>
              </a:rPr>
              <a:t>3.52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322576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340864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-0.22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01568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419856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0.21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80560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498848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-0.25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559552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5577840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-0.19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38544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656832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0.44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17536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735824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0.01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96528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814816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-1.44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875520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893808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0.55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54512" y="4700016"/>
            <a:ext cx="1060704" cy="530352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972800" y="479145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0.07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82880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243584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261872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7C2A"/>
                </a:solidFill>
                <a:latin typeface="Calibri"/>
              </a:rPr>
              <a:t>5.12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340864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1.30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401568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419856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1.21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480560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498848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-1.03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559552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577840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-0.10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638544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656832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-0.80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717536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735824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0.06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796528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814816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-0.59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875520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893808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0.19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954512" y="5266944"/>
            <a:ext cx="1060704" cy="530352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972800" y="535838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0.33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Building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Clustering Algorithms — Part 1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15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78992"/>
            <a:ext cx="11612880" cy="38404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13385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1. Partitioning Clustering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1612880" cy="658368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463040"/>
            <a:ext cx="201168" cy="65836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49961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04EDB"/>
                </a:solidFill>
                <a:latin typeface="Calibri"/>
              </a:rPr>
              <a:t>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536192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Assigns each point to the nearest centroid. Minimises within-cluster sum of squares (inertia). Optimal K determined via Elbow Method.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21408"/>
            <a:ext cx="11612880" cy="658368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121408"/>
            <a:ext cx="201168" cy="65836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1579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04EDB"/>
                </a:solidFill>
                <a:latin typeface="Calibri"/>
              </a:rPr>
              <a:t>K-Medoids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194560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Uses actual data points as cluster centres (medoids). More robust to outliers than K-Means.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44368"/>
            <a:ext cx="11612880" cy="38404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9992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2. Hierarchical Clustering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28416"/>
            <a:ext cx="11612880" cy="658368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328416"/>
            <a:ext cx="201168" cy="65836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649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7C2A"/>
                </a:solidFill>
                <a:latin typeface="Calibri"/>
              </a:rPr>
              <a:t>Agglomerative Clustering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401568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Bottom-up approach — merges the two closest clusters iteratively. Dendrogram used to visualise hierarchy.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86784"/>
            <a:ext cx="11612880" cy="658368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986784"/>
            <a:ext cx="201168" cy="65836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0233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7C2A"/>
                </a:solidFill>
                <a:latin typeface="Calibri"/>
              </a:rPr>
              <a:t>Divisive Clustering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059936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Top-down approach — recursively splits one large cluster. Computationally intensive for large datasets.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09744"/>
            <a:ext cx="1161288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486460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3. Density-Based Clustering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93792"/>
            <a:ext cx="11612880" cy="658368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5193792"/>
            <a:ext cx="201168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2303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Calibri"/>
              </a:rPr>
              <a:t>DBSCAN Algorithm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266944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Groups points in dense regions; labels sparse points as noise (–1). Does not require specifying K in advance.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49941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Building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Clustering Algorithms — Part 2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16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78992"/>
            <a:ext cx="11612880" cy="38404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13385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4. Model-Based Clustering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1612880" cy="109728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463040"/>
            <a:ext cx="201168" cy="10972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5361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Gaussian Mixture Models (GMM)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93852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Probabilistic model assuming data is generated from a mixture of Gaussian distributions. Each cluster has its own mean and covariance. Uses Expectation–Maximisation (EM) algorithm.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596896"/>
            <a:ext cx="1161288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738" y="2650705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5. Fuzzy Clustering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" y="2978834"/>
            <a:ext cx="11612880" cy="109728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256032" y="2944368"/>
            <a:ext cx="201168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03504" y="305409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Fuzzy C-Means (FCM)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3832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Each data point belongs to multiple clusters with a membership degree between 0 and 1. Useful for overlapping, ambiguous cluster boundaries.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Minimises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weighted sum of squared distances.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061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C2A"/>
                </a:solidFill>
                <a:latin typeface="Calibri"/>
              </a:rPr>
              <a:t>Algorithm Comparison Summary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4543865"/>
            <a:ext cx="1993392" cy="32004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0312" y="458044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6272" y="4543865"/>
            <a:ext cx="1216152" cy="32004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2" y="458044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Requires K?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0712" y="4543865"/>
            <a:ext cx="1581912" cy="32004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56432" y="458044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Handles Noise?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0912" y="4543865"/>
            <a:ext cx="1581912" cy="32004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56632" y="458044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Cluster Shape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1112" y="4543865"/>
            <a:ext cx="2542032" cy="320040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6832" y="458044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4891337"/>
            <a:ext cx="199339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0312" y="492791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4EDB"/>
                </a:solidFill>
                <a:latin typeface="Calibri"/>
              </a:rPr>
              <a:t>K-Means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76272" y="4891337"/>
            <a:ext cx="121615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21992" y="492791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0712" y="4891337"/>
            <a:ext cx="158191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56432" y="492791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10912" y="4891337"/>
            <a:ext cx="158191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56632" y="492791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Spherical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11112" y="4891337"/>
            <a:ext cx="254203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56832" y="492791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Large balanced datasets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" y="5238809"/>
            <a:ext cx="199339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0312" y="527538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DBSCAN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76272" y="5238809"/>
            <a:ext cx="121615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21992" y="5275385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0712" y="5238809"/>
            <a:ext cx="158191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56432" y="5275385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0912" y="5238809"/>
            <a:ext cx="158191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56632" y="5275385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Arbitrary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11112" y="5238809"/>
            <a:ext cx="254203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56832" y="5275385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Noise-heavy spatial 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5586281"/>
            <a:ext cx="199339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10312" y="562285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C2A"/>
                </a:solidFill>
                <a:latin typeface="Calibri"/>
              </a:rPr>
              <a:t>Agglomerative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76272" y="5586281"/>
            <a:ext cx="121615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21992" y="5622857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Post-hoc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0712" y="5586281"/>
            <a:ext cx="158191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56432" y="562285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10912" y="5586281"/>
            <a:ext cx="158191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56632" y="562285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Hierarchical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11112" y="5586281"/>
            <a:ext cx="254203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56832" y="562285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Small-medium datasets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4592" y="5933753"/>
            <a:ext cx="199339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10312" y="597032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D353"/>
                </a:solidFill>
                <a:latin typeface="Calibri"/>
              </a:rPr>
              <a:t>GMM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76272" y="5933753"/>
            <a:ext cx="121615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221992" y="597032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10712" y="5933753"/>
            <a:ext cx="158191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456432" y="5970329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10912" y="5933753"/>
            <a:ext cx="158191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56632" y="5970329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Elliptical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11112" y="5933753"/>
            <a:ext cx="2542032" cy="32004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656832" y="597032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Probabilistic assignment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4592" y="6281225"/>
            <a:ext cx="199339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10312" y="631780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Fuzzy C-Means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76272" y="6281225"/>
            <a:ext cx="121615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21992" y="631780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10712" y="6281225"/>
            <a:ext cx="158191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456432" y="631780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10912" y="6281225"/>
            <a:ext cx="158191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56632" y="631780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Overlapping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11112" y="6281225"/>
            <a:ext cx="2542032" cy="320040"/>
          </a:xfrm>
          <a:prstGeom prst="rect">
            <a:avLst/>
          </a:prstGeom>
          <a:solidFill>
            <a:srgbClr val="25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656832" y="631780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Soft cluster boundaries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Selection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Elbow Curve &amp; Silhouette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17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5486400" cy="384048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5394960" cy="33832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7920" y="1051560"/>
            <a:ext cx="5669280" cy="3840480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5577840" cy="3383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4EDB"/>
                </a:solidFill>
                <a:latin typeface="Calibri"/>
              </a:rPr>
              <a:t>Elbow Curve — Optimal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376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Inertia drops sharply up to K=4 then flattens → K=4 selected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0292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C2A"/>
                </a:solidFill>
                <a:latin typeface="Calibri"/>
              </a:rPr>
              <a:t>Silhouette Scores — Algorithm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3766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K-Means (0.37) &amp; GMM (0.37) tied for best; DBSCAN lowest (0.20)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Cluster Visualisations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PCA-Based Scatter Plots for Each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18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5669280" cy="4206240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577840" cy="40233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4320" y="5349240"/>
            <a:ext cx="56692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5394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0E2A"/>
                </a:solidFill>
                <a:latin typeface="Calibri"/>
              </a:rPr>
              <a:t>DBSCAN — 2 Clusters (PCA Space)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5669280" cy="4206240"/>
          </a:xfrm>
          <a:prstGeom prst="rect">
            <a:avLst/>
          </a:prstGeom>
          <a:solidFill>
            <a:srgbClr val="251E5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4023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17920" y="5349240"/>
            <a:ext cx="5669280" cy="4114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5394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0E2A"/>
                </a:solidFill>
                <a:latin typeface="Calibri"/>
              </a:rPr>
              <a:t>GMM — 4 Clusters (PCA Space)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8978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C2A"/>
                </a:solidFill>
                <a:latin typeface="Calibri"/>
              </a:rPr>
              <a:t>Both plots use PC1 (x-axis) and PC2 (y-axis). GMM produces well-separated clusters across 4 groups; DBSCAN identifies 2 groups with noise.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Selection &amp; 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Final Model Evaluation &amp;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19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2788920" cy="2560320"/>
          </a:xfrm>
          <a:prstGeom prst="rect">
            <a:avLst/>
          </a:prstGeom>
          <a:solidFill>
            <a:srgbClr val="251E55"/>
          </a:solidFill>
          <a:ln w="254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2788920" cy="4572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07899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0E2A"/>
                </a:solidFill>
                <a:latin typeface="Calibri"/>
              </a:rPr>
              <a:t>K-Means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04EDB"/>
                </a:solidFill>
                <a:latin typeface="Calibri"/>
              </a:rPr>
              <a:t>0.37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Silhouette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Partitioning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54680"/>
            <a:ext cx="1874519" cy="347472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1821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0E2A"/>
                </a:solidFill>
                <a:latin typeface="Calibri"/>
              </a:rPr>
              <a:t>✅ Selected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051560"/>
            <a:ext cx="2788920" cy="2560320"/>
          </a:xfrm>
          <a:prstGeom prst="rect">
            <a:avLst/>
          </a:prstGeom>
          <a:solidFill>
            <a:srgbClr val="251E55"/>
          </a:solidFill>
          <a:ln w="2540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107899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0E2A"/>
                </a:solidFill>
                <a:latin typeface="Calibri"/>
              </a:rPr>
              <a:t>Agglomerative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7C2A"/>
                </a:solidFill>
                <a:latin typeface="Calibri"/>
              </a:rPr>
              <a:t>0.36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Silhouette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7432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Hierarchical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154680"/>
            <a:ext cx="1874519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31821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0E2A"/>
                </a:solidFill>
                <a:latin typeface="Calibri"/>
              </a:rPr>
              <a:t>✅ Selected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51560"/>
            <a:ext cx="2788920" cy="2560320"/>
          </a:xfrm>
          <a:prstGeom prst="rect">
            <a:avLst/>
          </a:prstGeom>
          <a:solidFill>
            <a:srgbClr val="251E55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051560"/>
            <a:ext cx="2788920" cy="4572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07899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0E2A"/>
                </a:solidFill>
                <a:latin typeface="Calibri"/>
              </a:rPr>
              <a:t>GMM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9D353"/>
                </a:solidFill>
                <a:latin typeface="Calibri"/>
              </a:rPr>
              <a:t>0.37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Silhouette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7432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Model-Based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154680"/>
            <a:ext cx="1874519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31821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0E2A"/>
                </a:solidFill>
                <a:latin typeface="Calibri"/>
              </a:rPr>
              <a:t>✅ Selected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1051560"/>
            <a:ext cx="2788920" cy="2560320"/>
          </a:xfrm>
          <a:prstGeom prst="rect">
            <a:avLst/>
          </a:prstGeom>
          <a:solidFill>
            <a:srgbClr val="251E55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89720" y="1051560"/>
            <a:ext cx="27889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81160" y="107899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0E2A"/>
                </a:solidFill>
                <a:latin typeface="Calibri"/>
              </a:rPr>
              <a:t>DBSCAN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  <a:latin typeface="Calibri"/>
              </a:rPr>
              <a:t>0.20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  <a:latin typeface="Calibri"/>
              </a:rPr>
              <a:t>Silhouette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7432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  <a:latin typeface="Calibri"/>
              </a:rPr>
              <a:t>Density-Based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3154680"/>
            <a:ext cx="1874519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46920" y="31821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0E2A"/>
                </a:solidFill>
                <a:latin typeface="Calibri"/>
              </a:rPr>
              <a:t>⚡ Reference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822191"/>
            <a:ext cx="11612880" cy="182880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74320" y="3822191"/>
            <a:ext cx="1161288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3858767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Cluster Interpretation (K=4, Silhouette=0.37)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4224527"/>
            <a:ext cx="1139342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Cluster 0  →  Underdeveloped Countries:   High birth rate, high infant mortality, low GDP &amp; internet usage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Cluster 1  →  Developing Countries:       Moderate indicators, improving health &amp; connectivity metrics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Cluster 2  →  Emerging Economies:         Strong GDP growth, rising internet &amp; mobile adoption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Cluster 3  →  Developed Countries:        High life expectancy, high internet usage, high health expenditure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User Interface &amp; Application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Streamlit Web Application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20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7772400" cy="512064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1051560"/>
            <a:ext cx="3566160" cy="1170432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1051560"/>
            <a:ext cx="3566160" cy="329184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08813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0E2A"/>
                </a:solidFill>
                <a:latin typeface="Calibri"/>
              </a:rPr>
              <a:t>🎛️ Input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435608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19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adjustable sliders for all economic &amp; demographic indicators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350008"/>
            <a:ext cx="3566160" cy="1170432"/>
          </a:xfrm>
          <a:prstGeom prst="rect">
            <a:avLst/>
          </a:prstGeom>
          <a:solidFill>
            <a:srgbClr val="251E55"/>
          </a:solidFill>
          <a:ln w="19050">
            <a:solidFill>
              <a:srgbClr val="FF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66760" y="2350008"/>
            <a:ext cx="3566160" cy="329184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38658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20E2A"/>
                </a:solidFill>
                <a:latin typeface="Calibri"/>
              </a:rPr>
              <a:t>🔮 Predict 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3405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Passes inputs to the selected ML model for real-time cluster prediction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3648456"/>
            <a:ext cx="3566160" cy="1170432"/>
          </a:xfrm>
          <a:prstGeom prst="rect">
            <a:avLst/>
          </a:prstGeom>
          <a:solidFill>
            <a:srgbClr val="251E5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3648456"/>
            <a:ext cx="3566160" cy="3291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685032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20E2A"/>
                </a:solidFill>
              </a:rPr>
              <a:t>📊 Results</a:t>
            </a:r>
          </a:p>
          <a:p>
            <a:pPr algn="l"/>
            <a:endParaRPr sz="1200" b="1" i="0" dirty="0">
              <a:solidFill>
                <a:srgbClr val="120E2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58200" y="4032504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Displays cluster label + development category instantly</a:t>
            </a:r>
          </a:p>
          <a:p>
            <a:pPr algn="l"/>
            <a:endParaRPr lang="en-US"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66760" y="4946904"/>
            <a:ext cx="3566160" cy="1170432"/>
          </a:xfrm>
          <a:prstGeom prst="rect">
            <a:avLst/>
          </a:prstGeom>
          <a:solidFill>
            <a:srgbClr val="251E5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66760" y="4946904"/>
            <a:ext cx="3566160" cy="329184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458200" y="533095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Displays 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>cluster </a:t>
            </a:r>
            <a:r>
              <a:rPr lang="en-US" sz="1100" dirty="0" err="1">
                <a:solidFill>
                  <a:srgbClr val="FFFFFF"/>
                </a:solidFill>
                <a:latin typeface="Calibri"/>
              </a:rPr>
              <a:t>viualization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> with PCA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E851C81-1BB3-2620-6FBF-BDD512ED6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772400" cy="51206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0F12D47-B6A9-6912-25CE-891C96446BA6}"/>
              </a:ext>
            </a:extLst>
          </p:cNvPr>
          <p:cNvSpPr txBox="1"/>
          <p:nvPr/>
        </p:nvSpPr>
        <p:spPr>
          <a:xfrm>
            <a:off x="8544589" y="496448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120E2A"/>
                </a:solidFill>
                <a:latin typeface="Calibri"/>
              </a:rPr>
              <a:t>Cluster Visualization</a:t>
            </a:r>
            <a:endParaRPr sz="1200" b="1" i="0" dirty="0">
              <a:solidFill>
                <a:srgbClr val="120E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109728"/>
            <a:ext cx="12079224" cy="749808"/>
          </a:xfrm>
          <a:prstGeom prst="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109728"/>
            <a:ext cx="320040" cy="74980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45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Deployment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7C2A"/>
                </a:solidFill>
                <a:latin typeface="Calibri"/>
              </a:rPr>
              <a:t>Platform, Workflow &amp; Live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  <a:latin typeface="Calibri"/>
              </a:rPr>
              <a:t>21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3657600" cy="228600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365760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0881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Deployment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453896"/>
            <a:ext cx="3438144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FFFFFF"/>
                </a:solidFill>
                <a:latin typeface="Calibri"/>
              </a:rPr>
              <a:t>Framework: </a:t>
            </a:r>
            <a:r>
              <a:rPr sz="1150" b="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sz="1150" b="0" dirty="0">
                <a:solidFill>
                  <a:srgbClr val="FFFFFF"/>
                </a:solidFill>
                <a:latin typeface="Calibri"/>
              </a:rPr>
              <a:t> (Python-based)</a:t>
            </a:r>
          </a:p>
          <a:p>
            <a:pPr algn="l"/>
            <a:r>
              <a:rPr sz="1150" b="0" dirty="0">
                <a:solidFill>
                  <a:srgbClr val="FFFFFF"/>
                </a:solidFill>
                <a:latin typeface="Calibri"/>
              </a:rPr>
              <a:t>Hosting: </a:t>
            </a:r>
            <a:r>
              <a:rPr sz="1150" b="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sz="1150" b="0" dirty="0">
                <a:solidFill>
                  <a:srgbClr val="FFFFFF"/>
                </a:solidFill>
                <a:latin typeface="Calibri"/>
              </a:rPr>
              <a:t> Community Cloud</a:t>
            </a:r>
          </a:p>
          <a:p>
            <a:pPr algn="l"/>
            <a:r>
              <a:rPr sz="1150" b="0" dirty="0">
                <a:solidFill>
                  <a:srgbClr val="FFFFFF"/>
                </a:solidFill>
                <a:latin typeface="Calibri"/>
              </a:rPr>
              <a:t>Access: Public URL — no login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51560"/>
            <a:ext cx="3657600" cy="228600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1051560"/>
            <a:ext cx="365760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10881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Model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453896"/>
            <a:ext cx="3438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Models serialised using pickle / joblib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Saved: K-Means, DBSCAN, Agglomerative,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        GMM Clustering models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Loaded on demand at inference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051560"/>
            <a:ext cx="3749039" cy="228600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051560"/>
            <a:ext cx="3749039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08813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Prediction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453896"/>
            <a:ext cx="3529583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1. User inputs 20 feature values via sliders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2. Inputs preprocessed (StandardScaler)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3. PCA transformation (→ 6 components)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4. Model predicts cluster label (0–3)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11612880" cy="91440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0E2A"/>
                </a:solidFill>
                <a:latin typeface="Calibri"/>
              </a:rPr>
              <a:t>🚀  Live Application 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77639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hlinkClick r:id="rId2"/>
              </a:rPr>
              <a:t>Streamlit</a:t>
            </a:r>
            <a:endParaRPr sz="1300" b="0" i="0" dirty="0">
              <a:solidFill>
                <a:srgbClr val="120E2A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" y="4663440"/>
            <a:ext cx="11612880" cy="1325880"/>
          </a:xfrm>
          <a:prstGeom prst="rect">
            <a:avLst/>
          </a:prstGeom>
          <a:solidFill>
            <a:srgbClr val="251E55"/>
          </a:solidFill>
          <a:ln w="1270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11612880" cy="34747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70001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0E2A"/>
                </a:solidFill>
                <a:latin typeface="Calibri"/>
              </a:rPr>
              <a:t>Results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065776"/>
            <a:ext cx="1139342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The deployed application classifies input country metrics into one of 4 clusters: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Cluster 0 → Underdeveloped  |  Cluster 1 → Developing  |  Cluster 2 → Emerging  |  Cluster 3 → Developed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Output includes cluster ID, development category label, and key metric comparisons.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0"/>
            <a:ext cx="5029200" cy="6858000"/>
          </a:xfrm>
          <a:prstGeom prst="roundRect">
            <a:avLst/>
          </a:prstGeom>
          <a:solidFill>
            <a:srgbClr val="1E1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109728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4EDB"/>
                </a:solidFill>
                <a:latin typeface="Calibri"/>
              </a:rPr>
              <a:t>Global Development Index Analysis &amp; Clustering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4572000" cy="45720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685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CCCCDD"/>
                </a:solidFill>
                <a:latin typeface="Calibri"/>
              </a:rPr>
              <a:t>Mihir Nigam</a:t>
            </a:r>
            <a:endParaRPr sz="1600" b="0" i="0" dirty="0">
              <a:solidFill>
                <a:srgbClr val="CCCCDD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737360" cy="530352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0E2A"/>
                </a:solidFill>
                <a:latin typeface="Calibri"/>
              </a:rPr>
              <a:t>22 Slides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4663440"/>
            <a:ext cx="1737360" cy="530352"/>
          </a:xfrm>
          <a:prstGeom prst="rect">
            <a:avLst/>
          </a:prstGeom>
          <a:solidFill>
            <a:srgbClr val="FF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0E2A"/>
                </a:solidFill>
                <a:latin typeface="Calibri"/>
              </a:rPr>
              <a:t>5 Algorithms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4663440"/>
            <a:ext cx="1737360" cy="5303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0E2A"/>
                </a:solidFill>
                <a:latin typeface="Calibri"/>
              </a:rPr>
              <a:t>K=4 Clusters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40680"/>
            <a:ext cx="1737360" cy="53035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5138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120E2A"/>
                </a:solidFill>
                <a:latin typeface="Calibri"/>
              </a:rPr>
              <a:t>Streamlit</a:t>
            </a:r>
            <a:r>
              <a:rPr sz="1300" b="1" i="0" dirty="0">
                <a:solidFill>
                  <a:srgbClr val="120E2A"/>
                </a:solidFill>
                <a:latin typeface="Calibri"/>
              </a:rPr>
              <a:t> Deployed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371600"/>
            <a:ext cx="3383280" cy="4114800"/>
          </a:xfrm>
          <a:prstGeom prst="rect">
            <a:avLst/>
          </a:prstGeom>
          <a:solidFill>
            <a:srgbClr val="251E55"/>
          </a:solidFill>
          <a:ln w="19050">
            <a:solidFill>
              <a:srgbClr val="A04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03920" y="1371600"/>
            <a:ext cx="3383280" cy="411480"/>
          </a:xfrm>
          <a:prstGeom prst="rect">
            <a:avLst/>
          </a:prstGeom>
          <a:solidFill>
            <a:srgbClr val="A0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1408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0E2A"/>
                </a:solidFill>
                <a:latin typeface="Calibri"/>
              </a:rPr>
              <a:t>Appendix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74519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CCDD"/>
                </a:solidFill>
                <a:latin typeface="Calibri"/>
              </a:rPr>
              <a:t>▸  World Development Measurement Dataset (CSV)</a:t>
            </a:r>
          </a:p>
          <a:p>
            <a:pPr algn="l"/>
            <a:r>
              <a:rPr sz="1100">
                <a:solidFill>
                  <a:srgbClr val="CCCCDD"/>
                </a:solidFill>
                <a:latin typeface="Calibri"/>
              </a:rPr>
              <a:t>▸  Correlation Matrix — Full 20×20</a:t>
            </a:r>
          </a:p>
          <a:p>
            <a:pPr algn="l"/>
            <a:r>
              <a:rPr sz="1100">
                <a:solidFill>
                  <a:srgbClr val="CCCCDD"/>
                </a:solidFill>
                <a:latin typeface="Calibri"/>
              </a:rPr>
              <a:t>▸  StandardScaler — Full Scaled DataFrame</a:t>
            </a:r>
          </a:p>
          <a:p>
            <a:pPr algn="l"/>
            <a:r>
              <a:rPr sz="1100">
                <a:solidFill>
                  <a:srgbClr val="CCCCDD"/>
                </a:solidFill>
                <a:latin typeface="Calibri"/>
              </a:rPr>
              <a:t>▸  PCA Scree Plot — Variance Explained</a:t>
            </a:r>
          </a:p>
          <a:p>
            <a:pPr algn="l"/>
            <a:r>
              <a:rPr sz="1100">
                <a:solidFill>
                  <a:srgbClr val="CCCCDD"/>
                </a:solidFill>
                <a:latin typeface="Calibri"/>
              </a:rPr>
              <a:t>▸  Dendrogram — Agglomerative Clustering</a:t>
            </a:r>
          </a:p>
          <a:p>
            <a:pPr algn="l"/>
            <a:r>
              <a:rPr sz="1100">
                <a:solidFill>
                  <a:srgbClr val="CCCCDD"/>
                </a:solidFill>
                <a:latin typeface="Calibri"/>
              </a:rPr>
              <a:t>▸  Fuzzy C-Means Membership Matrix</a:t>
            </a:r>
          </a:p>
          <a:p>
            <a:pPr algn="l"/>
            <a:r>
              <a:rPr sz="1100">
                <a:solidFill>
                  <a:srgbClr val="CCCCDD"/>
                </a:solidFill>
                <a:latin typeface="Calibri"/>
              </a:rPr>
              <a:t>▸  Streamlit App Source Code (GitHub)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2379</Words>
  <Application>Microsoft Office PowerPoint</Application>
  <PresentationFormat>Custom</PresentationFormat>
  <Paragraphs>580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Mihir Nigam</cp:lastModifiedBy>
  <cp:revision>2</cp:revision>
  <dcterms:created xsi:type="dcterms:W3CDTF">2013-01-27T09:14:16Z</dcterms:created>
  <dcterms:modified xsi:type="dcterms:W3CDTF">2026-03-26T18:08:24Z</dcterms:modified>
  <cp:category/>
</cp:coreProperties>
</file>